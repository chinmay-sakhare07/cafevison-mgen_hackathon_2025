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4348ED4-81BB-4768-B469-3E6E335390E8}" v="1" dt="2025-10-17T17:05:06.78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60"/>
  </p:normalViewPr>
  <p:slideViewPr>
    <p:cSldViewPr snapToGrid="0">
      <p:cViewPr varScale="1">
        <p:scale>
          <a:sx n="69" d="100"/>
          <a:sy n="69" d="100"/>
        </p:scale>
        <p:origin x="72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inmay Sakhare" userId="23621daf8e73dd3d" providerId="LiveId" clId="{8F147EC8-13B0-4FE2-8751-04F21E8FA56B}"/>
    <pc:docChg chg="modSld">
      <pc:chgData name="Chinmay Sakhare" userId="23621daf8e73dd3d" providerId="LiveId" clId="{8F147EC8-13B0-4FE2-8751-04F21E8FA56B}" dt="2025-10-17T17:05:19.599" v="9" actId="14100"/>
      <pc:docMkLst>
        <pc:docMk/>
      </pc:docMkLst>
      <pc:sldChg chg="addSp modSp mod">
        <pc:chgData name="Chinmay Sakhare" userId="23621daf8e73dd3d" providerId="LiveId" clId="{8F147EC8-13B0-4FE2-8751-04F21E8FA56B}" dt="2025-10-17T17:05:19.599" v="9" actId="14100"/>
        <pc:sldMkLst>
          <pc:docMk/>
          <pc:sldMk cId="3311259216" sldId="259"/>
        </pc:sldMkLst>
        <pc:picChg chg="mod">
          <ac:chgData name="Chinmay Sakhare" userId="23621daf8e73dd3d" providerId="LiveId" clId="{8F147EC8-13B0-4FE2-8751-04F21E8FA56B}" dt="2025-10-17T17:05:10.438" v="6" actId="1076"/>
          <ac:picMkLst>
            <pc:docMk/>
            <pc:sldMk cId="3311259216" sldId="259"/>
            <ac:picMk id="5" creationId="{581FCC22-7990-0268-6B2F-665BF67D449C}"/>
          </ac:picMkLst>
        </pc:picChg>
        <pc:picChg chg="add mod">
          <ac:chgData name="Chinmay Sakhare" userId="23621daf8e73dd3d" providerId="LiveId" clId="{8F147EC8-13B0-4FE2-8751-04F21E8FA56B}" dt="2025-10-17T17:05:19.599" v="9" actId="14100"/>
          <ac:picMkLst>
            <pc:docMk/>
            <pc:sldMk cId="3311259216" sldId="259"/>
            <ac:picMk id="8" creationId="{6B95E9D2-1E16-64F3-45A9-DF3612D95336}"/>
          </ac:picMkLst>
        </pc:pic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85F21D4-FE5F-4613-A7CF-8F148FF52D2F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E486B9A2-5E0E-455F-94B6-49006FFA70B0}">
      <dgm:prSet/>
      <dgm:spPr/>
      <dgm:t>
        <a:bodyPr/>
        <a:lstStyle/>
        <a:p>
          <a:r>
            <a:rPr lang="en-US"/>
            <a:t>Manual observation = slow &amp; inaccurate</a:t>
          </a:r>
        </a:p>
      </dgm:t>
    </dgm:pt>
    <dgm:pt modelId="{99A10B24-E550-456B-9364-1D8D1BAAD2DF}" type="parTrans" cxnId="{AC9D2405-A2F6-4CFB-84B4-725ADC6852CE}">
      <dgm:prSet/>
      <dgm:spPr/>
      <dgm:t>
        <a:bodyPr/>
        <a:lstStyle/>
        <a:p>
          <a:endParaRPr lang="en-US"/>
        </a:p>
      </dgm:t>
    </dgm:pt>
    <dgm:pt modelId="{065F9EF7-A693-4EEC-ABAB-058FF6DD8315}" type="sibTrans" cxnId="{AC9D2405-A2F6-4CFB-84B4-725ADC6852CE}">
      <dgm:prSet/>
      <dgm:spPr/>
      <dgm:t>
        <a:bodyPr/>
        <a:lstStyle/>
        <a:p>
          <a:endParaRPr lang="en-US"/>
        </a:p>
      </dgm:t>
    </dgm:pt>
    <dgm:pt modelId="{F3CD5128-72EB-490D-81CD-0342BC50EB62}">
      <dgm:prSet/>
      <dgm:spPr/>
      <dgm:t>
        <a:bodyPr/>
        <a:lstStyle/>
        <a:p>
          <a:r>
            <a:rPr lang="en-US"/>
            <a:t>No real-time productivity data</a:t>
          </a:r>
        </a:p>
      </dgm:t>
    </dgm:pt>
    <dgm:pt modelId="{E554E301-72C1-45DC-B4F9-EF30B05E0129}" type="parTrans" cxnId="{14CECF03-19AF-48CC-A2AF-5033EB8BA0CD}">
      <dgm:prSet/>
      <dgm:spPr/>
      <dgm:t>
        <a:bodyPr/>
        <a:lstStyle/>
        <a:p>
          <a:endParaRPr lang="en-US"/>
        </a:p>
      </dgm:t>
    </dgm:pt>
    <dgm:pt modelId="{5485BCDC-5197-4538-94D0-CA4D1C481DEA}" type="sibTrans" cxnId="{14CECF03-19AF-48CC-A2AF-5033EB8BA0CD}">
      <dgm:prSet/>
      <dgm:spPr/>
      <dgm:t>
        <a:bodyPr/>
        <a:lstStyle/>
        <a:p>
          <a:endParaRPr lang="en-US"/>
        </a:p>
      </dgm:t>
    </dgm:pt>
    <dgm:pt modelId="{FC2DEB7E-B515-44FB-A543-9C2E9F8B1FB4}">
      <dgm:prSet/>
      <dgm:spPr/>
      <dgm:t>
        <a:bodyPr/>
        <a:lstStyle/>
        <a:p>
          <a:r>
            <a:rPr lang="en-US"/>
            <a:t>Customer wait times go unnoticed</a:t>
          </a:r>
        </a:p>
      </dgm:t>
    </dgm:pt>
    <dgm:pt modelId="{BFF508BB-3942-4A79-932D-ED1116D8D1F2}" type="parTrans" cxnId="{1258527E-0EC8-4112-9EF5-AAB1BF2D445C}">
      <dgm:prSet/>
      <dgm:spPr/>
      <dgm:t>
        <a:bodyPr/>
        <a:lstStyle/>
        <a:p>
          <a:endParaRPr lang="en-US"/>
        </a:p>
      </dgm:t>
    </dgm:pt>
    <dgm:pt modelId="{AB8639B4-BDCB-4BDC-80DD-764D622A8743}" type="sibTrans" cxnId="{1258527E-0EC8-4112-9EF5-AAB1BF2D445C}">
      <dgm:prSet/>
      <dgm:spPr/>
      <dgm:t>
        <a:bodyPr/>
        <a:lstStyle/>
        <a:p>
          <a:endParaRPr lang="en-US"/>
        </a:p>
      </dgm:t>
    </dgm:pt>
    <dgm:pt modelId="{2D907D27-CD1E-4DA2-B3CD-63EF43D641A8}">
      <dgm:prSet/>
      <dgm:spPr/>
      <dgm:t>
        <a:bodyPr/>
        <a:lstStyle/>
        <a:p>
          <a:r>
            <a:rPr lang="en-US"/>
            <a:t>📍Goal → Use vision AI to measure workflow efficiency</a:t>
          </a:r>
        </a:p>
      </dgm:t>
    </dgm:pt>
    <dgm:pt modelId="{1E973DC4-1740-4F6E-BBB5-2E279F01D099}" type="parTrans" cxnId="{17675082-B3DC-4837-8140-56CC8930986E}">
      <dgm:prSet/>
      <dgm:spPr/>
      <dgm:t>
        <a:bodyPr/>
        <a:lstStyle/>
        <a:p>
          <a:endParaRPr lang="en-US"/>
        </a:p>
      </dgm:t>
    </dgm:pt>
    <dgm:pt modelId="{74F0925D-3B77-4801-81ED-8E8128A4598F}" type="sibTrans" cxnId="{17675082-B3DC-4837-8140-56CC8930986E}">
      <dgm:prSet/>
      <dgm:spPr/>
      <dgm:t>
        <a:bodyPr/>
        <a:lstStyle/>
        <a:p>
          <a:endParaRPr lang="en-US"/>
        </a:p>
      </dgm:t>
    </dgm:pt>
    <dgm:pt modelId="{0566DCE5-014F-4072-AB55-586A6D3F9315}" type="pres">
      <dgm:prSet presAssocID="{785F21D4-FE5F-4613-A7CF-8F148FF52D2F}" presName="root" presStyleCnt="0">
        <dgm:presLayoutVars>
          <dgm:dir/>
          <dgm:resizeHandles val="exact"/>
        </dgm:presLayoutVars>
      </dgm:prSet>
      <dgm:spPr/>
    </dgm:pt>
    <dgm:pt modelId="{54F44C83-6325-4BA7-A404-CF8D6AB225BD}" type="pres">
      <dgm:prSet presAssocID="{E486B9A2-5E0E-455F-94B6-49006FFA70B0}" presName="compNode" presStyleCnt="0"/>
      <dgm:spPr/>
    </dgm:pt>
    <dgm:pt modelId="{78F88212-1601-4807-8F07-CE27D4B57B2E}" type="pres">
      <dgm:prSet presAssocID="{E486B9A2-5E0E-455F-94B6-49006FFA70B0}" presName="bgRect" presStyleLbl="bgShp" presStyleIdx="0" presStyleCnt="4"/>
      <dgm:spPr/>
    </dgm:pt>
    <dgm:pt modelId="{02CC5F22-DD3E-4FDE-99F1-1FEF11652EE5}" type="pres">
      <dgm:prSet presAssocID="{E486B9A2-5E0E-455F-94B6-49006FFA70B0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rning"/>
        </a:ext>
      </dgm:extLst>
    </dgm:pt>
    <dgm:pt modelId="{B02F1667-7D1A-4CFB-B2F9-B53EC9C90D9E}" type="pres">
      <dgm:prSet presAssocID="{E486B9A2-5E0E-455F-94B6-49006FFA70B0}" presName="spaceRect" presStyleCnt="0"/>
      <dgm:spPr/>
    </dgm:pt>
    <dgm:pt modelId="{0A33D90D-8854-41E1-9C84-DC65AAE23077}" type="pres">
      <dgm:prSet presAssocID="{E486B9A2-5E0E-455F-94B6-49006FFA70B0}" presName="parTx" presStyleLbl="revTx" presStyleIdx="0" presStyleCnt="4">
        <dgm:presLayoutVars>
          <dgm:chMax val="0"/>
          <dgm:chPref val="0"/>
        </dgm:presLayoutVars>
      </dgm:prSet>
      <dgm:spPr/>
    </dgm:pt>
    <dgm:pt modelId="{C43ECBE3-98A1-452D-987F-456F5F07C768}" type="pres">
      <dgm:prSet presAssocID="{065F9EF7-A693-4EEC-ABAB-058FF6DD8315}" presName="sibTrans" presStyleCnt="0"/>
      <dgm:spPr/>
    </dgm:pt>
    <dgm:pt modelId="{EF79B524-5FB8-4BFF-9D4D-D2682D9955A4}" type="pres">
      <dgm:prSet presAssocID="{F3CD5128-72EB-490D-81CD-0342BC50EB62}" presName="compNode" presStyleCnt="0"/>
      <dgm:spPr/>
    </dgm:pt>
    <dgm:pt modelId="{81BDCD3D-D3E1-499A-8D05-8604B3BC31BB}" type="pres">
      <dgm:prSet presAssocID="{F3CD5128-72EB-490D-81CD-0342BC50EB62}" presName="bgRect" presStyleLbl="bgShp" presStyleIdx="1" presStyleCnt="4"/>
      <dgm:spPr/>
    </dgm:pt>
    <dgm:pt modelId="{588C9232-A8A7-4284-9BBD-A76BF766E565}" type="pres">
      <dgm:prSet presAssocID="{F3CD5128-72EB-490D-81CD-0342BC50EB62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9DA32A15-C6F3-4A02-8DBF-BAAA5FE2B0E6}" type="pres">
      <dgm:prSet presAssocID="{F3CD5128-72EB-490D-81CD-0342BC50EB62}" presName="spaceRect" presStyleCnt="0"/>
      <dgm:spPr/>
    </dgm:pt>
    <dgm:pt modelId="{F473C996-E032-4CEF-94C6-9F537443FD46}" type="pres">
      <dgm:prSet presAssocID="{F3CD5128-72EB-490D-81CD-0342BC50EB62}" presName="parTx" presStyleLbl="revTx" presStyleIdx="1" presStyleCnt="4">
        <dgm:presLayoutVars>
          <dgm:chMax val="0"/>
          <dgm:chPref val="0"/>
        </dgm:presLayoutVars>
      </dgm:prSet>
      <dgm:spPr/>
    </dgm:pt>
    <dgm:pt modelId="{32C69BA9-A1A8-48BB-BBC7-3B6EEDA3F39F}" type="pres">
      <dgm:prSet presAssocID="{5485BCDC-5197-4538-94D0-CA4D1C481DEA}" presName="sibTrans" presStyleCnt="0"/>
      <dgm:spPr/>
    </dgm:pt>
    <dgm:pt modelId="{EF4B0168-0709-4E0B-B328-369FA54264AC}" type="pres">
      <dgm:prSet presAssocID="{FC2DEB7E-B515-44FB-A543-9C2E9F8B1FB4}" presName="compNode" presStyleCnt="0"/>
      <dgm:spPr/>
    </dgm:pt>
    <dgm:pt modelId="{F323CC2F-3DAD-4A27-A07A-BC2D73E876F2}" type="pres">
      <dgm:prSet presAssocID="{FC2DEB7E-B515-44FB-A543-9C2E9F8B1FB4}" presName="bgRect" presStyleLbl="bgShp" presStyleIdx="2" presStyleCnt="4"/>
      <dgm:spPr/>
    </dgm:pt>
    <dgm:pt modelId="{553C34A6-4365-4D3D-959D-693AB523E154}" type="pres">
      <dgm:prSet presAssocID="{FC2DEB7E-B515-44FB-A543-9C2E9F8B1FB4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ad Face with No Fill"/>
        </a:ext>
      </dgm:extLst>
    </dgm:pt>
    <dgm:pt modelId="{E884E483-C0BC-46AD-861F-705538CE83B5}" type="pres">
      <dgm:prSet presAssocID="{FC2DEB7E-B515-44FB-A543-9C2E9F8B1FB4}" presName="spaceRect" presStyleCnt="0"/>
      <dgm:spPr/>
    </dgm:pt>
    <dgm:pt modelId="{E7CCD7D1-7916-4AFE-9A88-46CF8F577DE4}" type="pres">
      <dgm:prSet presAssocID="{FC2DEB7E-B515-44FB-A543-9C2E9F8B1FB4}" presName="parTx" presStyleLbl="revTx" presStyleIdx="2" presStyleCnt="4">
        <dgm:presLayoutVars>
          <dgm:chMax val="0"/>
          <dgm:chPref val="0"/>
        </dgm:presLayoutVars>
      </dgm:prSet>
      <dgm:spPr/>
    </dgm:pt>
    <dgm:pt modelId="{2EE275D2-9DB1-4281-A1C7-670BDACC1E04}" type="pres">
      <dgm:prSet presAssocID="{AB8639B4-BDCB-4BDC-80DD-764D622A8743}" presName="sibTrans" presStyleCnt="0"/>
      <dgm:spPr/>
    </dgm:pt>
    <dgm:pt modelId="{C875C1DE-C799-4EE2-8A81-83A82BC569E2}" type="pres">
      <dgm:prSet presAssocID="{2D907D27-CD1E-4DA2-B3CD-63EF43D641A8}" presName="compNode" presStyleCnt="0"/>
      <dgm:spPr/>
    </dgm:pt>
    <dgm:pt modelId="{D08EA394-0C58-451A-AB1A-191DBEFDBFAE}" type="pres">
      <dgm:prSet presAssocID="{2D907D27-CD1E-4DA2-B3CD-63EF43D641A8}" presName="bgRect" presStyleLbl="bgShp" presStyleIdx="3" presStyleCnt="4"/>
      <dgm:spPr/>
    </dgm:pt>
    <dgm:pt modelId="{495B9671-DBC1-491A-AA45-879CC0BA7D17}" type="pres">
      <dgm:prSet presAssocID="{2D907D27-CD1E-4DA2-B3CD-63EF43D641A8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F8D8AFC9-459E-46D7-A70F-ED1845C1364D}" type="pres">
      <dgm:prSet presAssocID="{2D907D27-CD1E-4DA2-B3CD-63EF43D641A8}" presName="spaceRect" presStyleCnt="0"/>
      <dgm:spPr/>
    </dgm:pt>
    <dgm:pt modelId="{F579C84B-9EF2-44EE-9D9C-B849E0CE28D6}" type="pres">
      <dgm:prSet presAssocID="{2D907D27-CD1E-4DA2-B3CD-63EF43D641A8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14CECF03-19AF-48CC-A2AF-5033EB8BA0CD}" srcId="{785F21D4-FE5F-4613-A7CF-8F148FF52D2F}" destId="{F3CD5128-72EB-490D-81CD-0342BC50EB62}" srcOrd="1" destOrd="0" parTransId="{E554E301-72C1-45DC-B4F9-EF30B05E0129}" sibTransId="{5485BCDC-5197-4538-94D0-CA4D1C481DEA}"/>
    <dgm:cxn modelId="{AC9D2405-A2F6-4CFB-84B4-725ADC6852CE}" srcId="{785F21D4-FE5F-4613-A7CF-8F148FF52D2F}" destId="{E486B9A2-5E0E-455F-94B6-49006FFA70B0}" srcOrd="0" destOrd="0" parTransId="{99A10B24-E550-456B-9364-1D8D1BAAD2DF}" sibTransId="{065F9EF7-A693-4EEC-ABAB-058FF6DD8315}"/>
    <dgm:cxn modelId="{A71AEE2C-B391-470A-85B8-C720532F489B}" type="presOf" srcId="{F3CD5128-72EB-490D-81CD-0342BC50EB62}" destId="{F473C996-E032-4CEF-94C6-9F537443FD46}" srcOrd="0" destOrd="0" presId="urn:microsoft.com/office/officeart/2018/2/layout/IconVerticalSolidList"/>
    <dgm:cxn modelId="{F69B382D-A883-45A1-99D7-0C2E35DF9888}" type="presOf" srcId="{2D907D27-CD1E-4DA2-B3CD-63EF43D641A8}" destId="{F579C84B-9EF2-44EE-9D9C-B849E0CE28D6}" srcOrd="0" destOrd="0" presId="urn:microsoft.com/office/officeart/2018/2/layout/IconVerticalSolidList"/>
    <dgm:cxn modelId="{3649B27A-DDC6-4E10-A86C-E19BA20715A6}" type="presOf" srcId="{E486B9A2-5E0E-455F-94B6-49006FFA70B0}" destId="{0A33D90D-8854-41E1-9C84-DC65AAE23077}" srcOrd="0" destOrd="0" presId="urn:microsoft.com/office/officeart/2018/2/layout/IconVerticalSolidList"/>
    <dgm:cxn modelId="{1258527E-0EC8-4112-9EF5-AAB1BF2D445C}" srcId="{785F21D4-FE5F-4613-A7CF-8F148FF52D2F}" destId="{FC2DEB7E-B515-44FB-A543-9C2E9F8B1FB4}" srcOrd="2" destOrd="0" parTransId="{BFF508BB-3942-4A79-932D-ED1116D8D1F2}" sibTransId="{AB8639B4-BDCB-4BDC-80DD-764D622A8743}"/>
    <dgm:cxn modelId="{17675082-B3DC-4837-8140-56CC8930986E}" srcId="{785F21D4-FE5F-4613-A7CF-8F148FF52D2F}" destId="{2D907D27-CD1E-4DA2-B3CD-63EF43D641A8}" srcOrd="3" destOrd="0" parTransId="{1E973DC4-1740-4F6E-BBB5-2E279F01D099}" sibTransId="{74F0925D-3B77-4801-81ED-8E8128A4598F}"/>
    <dgm:cxn modelId="{05D509E7-AD0D-4440-8556-69CC2018F95C}" type="presOf" srcId="{FC2DEB7E-B515-44FB-A543-9C2E9F8B1FB4}" destId="{E7CCD7D1-7916-4AFE-9A88-46CF8F577DE4}" srcOrd="0" destOrd="0" presId="urn:microsoft.com/office/officeart/2018/2/layout/IconVerticalSolidList"/>
    <dgm:cxn modelId="{2E02ABFC-9F91-4243-82A7-D1609796221C}" type="presOf" srcId="{785F21D4-FE5F-4613-A7CF-8F148FF52D2F}" destId="{0566DCE5-014F-4072-AB55-586A6D3F9315}" srcOrd="0" destOrd="0" presId="urn:microsoft.com/office/officeart/2018/2/layout/IconVerticalSolidList"/>
    <dgm:cxn modelId="{1565BEA1-14A9-4B3F-9E22-AC227EA68A9D}" type="presParOf" srcId="{0566DCE5-014F-4072-AB55-586A6D3F9315}" destId="{54F44C83-6325-4BA7-A404-CF8D6AB225BD}" srcOrd="0" destOrd="0" presId="urn:microsoft.com/office/officeart/2018/2/layout/IconVerticalSolidList"/>
    <dgm:cxn modelId="{C68F8374-818A-423A-AC77-606527A10160}" type="presParOf" srcId="{54F44C83-6325-4BA7-A404-CF8D6AB225BD}" destId="{78F88212-1601-4807-8F07-CE27D4B57B2E}" srcOrd="0" destOrd="0" presId="urn:microsoft.com/office/officeart/2018/2/layout/IconVerticalSolidList"/>
    <dgm:cxn modelId="{A8E815FC-17D2-4485-B740-E3767A1B34B7}" type="presParOf" srcId="{54F44C83-6325-4BA7-A404-CF8D6AB225BD}" destId="{02CC5F22-DD3E-4FDE-99F1-1FEF11652EE5}" srcOrd="1" destOrd="0" presId="urn:microsoft.com/office/officeart/2018/2/layout/IconVerticalSolidList"/>
    <dgm:cxn modelId="{924D1C5E-FBEF-46AA-9A77-9497F224068D}" type="presParOf" srcId="{54F44C83-6325-4BA7-A404-CF8D6AB225BD}" destId="{B02F1667-7D1A-4CFB-B2F9-B53EC9C90D9E}" srcOrd="2" destOrd="0" presId="urn:microsoft.com/office/officeart/2018/2/layout/IconVerticalSolidList"/>
    <dgm:cxn modelId="{493762AB-05C4-44A5-914A-9298E39A01E9}" type="presParOf" srcId="{54F44C83-6325-4BA7-A404-CF8D6AB225BD}" destId="{0A33D90D-8854-41E1-9C84-DC65AAE23077}" srcOrd="3" destOrd="0" presId="urn:microsoft.com/office/officeart/2018/2/layout/IconVerticalSolidList"/>
    <dgm:cxn modelId="{F1440887-0F8B-4A80-A782-BF267187ECC8}" type="presParOf" srcId="{0566DCE5-014F-4072-AB55-586A6D3F9315}" destId="{C43ECBE3-98A1-452D-987F-456F5F07C768}" srcOrd="1" destOrd="0" presId="urn:microsoft.com/office/officeart/2018/2/layout/IconVerticalSolidList"/>
    <dgm:cxn modelId="{6434AC3F-7CDA-472E-AFCF-2095393E0C73}" type="presParOf" srcId="{0566DCE5-014F-4072-AB55-586A6D3F9315}" destId="{EF79B524-5FB8-4BFF-9D4D-D2682D9955A4}" srcOrd="2" destOrd="0" presId="urn:microsoft.com/office/officeart/2018/2/layout/IconVerticalSolidList"/>
    <dgm:cxn modelId="{6AE035DE-CB92-4ED0-BD21-BD294FCB239E}" type="presParOf" srcId="{EF79B524-5FB8-4BFF-9D4D-D2682D9955A4}" destId="{81BDCD3D-D3E1-499A-8D05-8604B3BC31BB}" srcOrd="0" destOrd="0" presId="urn:microsoft.com/office/officeart/2018/2/layout/IconVerticalSolidList"/>
    <dgm:cxn modelId="{E8F23765-90DF-4958-984F-F038D4357086}" type="presParOf" srcId="{EF79B524-5FB8-4BFF-9D4D-D2682D9955A4}" destId="{588C9232-A8A7-4284-9BBD-A76BF766E565}" srcOrd="1" destOrd="0" presId="urn:microsoft.com/office/officeart/2018/2/layout/IconVerticalSolidList"/>
    <dgm:cxn modelId="{6AAD9525-2C10-4D39-A796-BF72A500ED6E}" type="presParOf" srcId="{EF79B524-5FB8-4BFF-9D4D-D2682D9955A4}" destId="{9DA32A15-C6F3-4A02-8DBF-BAAA5FE2B0E6}" srcOrd="2" destOrd="0" presId="urn:microsoft.com/office/officeart/2018/2/layout/IconVerticalSolidList"/>
    <dgm:cxn modelId="{49D58651-8C99-4499-831A-FAABC79150E8}" type="presParOf" srcId="{EF79B524-5FB8-4BFF-9D4D-D2682D9955A4}" destId="{F473C996-E032-4CEF-94C6-9F537443FD46}" srcOrd="3" destOrd="0" presId="urn:microsoft.com/office/officeart/2018/2/layout/IconVerticalSolidList"/>
    <dgm:cxn modelId="{9D5F5CB4-0D60-4038-87F9-E120DF7990C0}" type="presParOf" srcId="{0566DCE5-014F-4072-AB55-586A6D3F9315}" destId="{32C69BA9-A1A8-48BB-BBC7-3B6EEDA3F39F}" srcOrd="3" destOrd="0" presId="urn:microsoft.com/office/officeart/2018/2/layout/IconVerticalSolidList"/>
    <dgm:cxn modelId="{64F3DC99-3137-4219-B301-317A34D894E4}" type="presParOf" srcId="{0566DCE5-014F-4072-AB55-586A6D3F9315}" destId="{EF4B0168-0709-4E0B-B328-369FA54264AC}" srcOrd="4" destOrd="0" presId="urn:microsoft.com/office/officeart/2018/2/layout/IconVerticalSolidList"/>
    <dgm:cxn modelId="{52F3B867-BE09-48E4-B17B-D6188FE51F8B}" type="presParOf" srcId="{EF4B0168-0709-4E0B-B328-369FA54264AC}" destId="{F323CC2F-3DAD-4A27-A07A-BC2D73E876F2}" srcOrd="0" destOrd="0" presId="urn:microsoft.com/office/officeart/2018/2/layout/IconVerticalSolidList"/>
    <dgm:cxn modelId="{430982CB-3F6F-4CB9-A319-12F161E4233F}" type="presParOf" srcId="{EF4B0168-0709-4E0B-B328-369FA54264AC}" destId="{553C34A6-4365-4D3D-959D-693AB523E154}" srcOrd="1" destOrd="0" presId="urn:microsoft.com/office/officeart/2018/2/layout/IconVerticalSolidList"/>
    <dgm:cxn modelId="{BD578DA6-0DA8-468A-BCA7-4AA69CE4F3AF}" type="presParOf" srcId="{EF4B0168-0709-4E0B-B328-369FA54264AC}" destId="{E884E483-C0BC-46AD-861F-705538CE83B5}" srcOrd="2" destOrd="0" presId="urn:microsoft.com/office/officeart/2018/2/layout/IconVerticalSolidList"/>
    <dgm:cxn modelId="{C4465264-6FA5-4953-A979-089E9BF3F0A8}" type="presParOf" srcId="{EF4B0168-0709-4E0B-B328-369FA54264AC}" destId="{E7CCD7D1-7916-4AFE-9A88-46CF8F577DE4}" srcOrd="3" destOrd="0" presId="urn:microsoft.com/office/officeart/2018/2/layout/IconVerticalSolidList"/>
    <dgm:cxn modelId="{C67A0592-DD10-460B-887C-D5CFF7890C83}" type="presParOf" srcId="{0566DCE5-014F-4072-AB55-586A6D3F9315}" destId="{2EE275D2-9DB1-4281-A1C7-670BDACC1E04}" srcOrd="5" destOrd="0" presId="urn:microsoft.com/office/officeart/2018/2/layout/IconVerticalSolidList"/>
    <dgm:cxn modelId="{152939DF-C1D5-47BE-858A-6B8F639CA96E}" type="presParOf" srcId="{0566DCE5-014F-4072-AB55-586A6D3F9315}" destId="{C875C1DE-C799-4EE2-8A81-83A82BC569E2}" srcOrd="6" destOrd="0" presId="urn:microsoft.com/office/officeart/2018/2/layout/IconVerticalSolidList"/>
    <dgm:cxn modelId="{C4614BFE-74C2-4E85-9951-84BA7562DDDC}" type="presParOf" srcId="{C875C1DE-C799-4EE2-8A81-83A82BC569E2}" destId="{D08EA394-0C58-451A-AB1A-191DBEFDBFAE}" srcOrd="0" destOrd="0" presId="urn:microsoft.com/office/officeart/2018/2/layout/IconVerticalSolidList"/>
    <dgm:cxn modelId="{748C38D2-30E4-468A-AE06-78F0E695545D}" type="presParOf" srcId="{C875C1DE-C799-4EE2-8A81-83A82BC569E2}" destId="{495B9671-DBC1-491A-AA45-879CC0BA7D17}" srcOrd="1" destOrd="0" presId="urn:microsoft.com/office/officeart/2018/2/layout/IconVerticalSolidList"/>
    <dgm:cxn modelId="{061BFAA7-7A14-4555-894F-0984523A6745}" type="presParOf" srcId="{C875C1DE-C799-4EE2-8A81-83A82BC569E2}" destId="{F8D8AFC9-459E-46D7-A70F-ED1845C1364D}" srcOrd="2" destOrd="0" presId="urn:microsoft.com/office/officeart/2018/2/layout/IconVerticalSolidList"/>
    <dgm:cxn modelId="{4C33020D-9B2B-449A-8411-8702CF04998A}" type="presParOf" srcId="{C875C1DE-C799-4EE2-8A81-83A82BC569E2}" destId="{F579C84B-9EF2-44EE-9D9C-B849E0CE28D6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8F88212-1601-4807-8F07-CE27D4B57B2E}">
      <dsp:nvSpPr>
        <dsp:cNvPr id="0" name=""/>
        <dsp:cNvSpPr/>
      </dsp:nvSpPr>
      <dsp:spPr>
        <a:xfrm>
          <a:off x="0" y="2179"/>
          <a:ext cx="5913437" cy="110465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2CC5F22-DD3E-4FDE-99F1-1FEF11652EE5}">
      <dsp:nvSpPr>
        <dsp:cNvPr id="0" name=""/>
        <dsp:cNvSpPr/>
      </dsp:nvSpPr>
      <dsp:spPr>
        <a:xfrm>
          <a:off x="334156" y="250725"/>
          <a:ext cx="607557" cy="60755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A33D90D-8854-41E1-9C84-DC65AAE23077}">
      <dsp:nvSpPr>
        <dsp:cNvPr id="0" name=""/>
        <dsp:cNvSpPr/>
      </dsp:nvSpPr>
      <dsp:spPr>
        <a:xfrm>
          <a:off x="1275871" y="2179"/>
          <a:ext cx="4637565" cy="11046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6909" tIns="116909" rIns="116909" bIns="116909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Manual observation = slow &amp; inaccurate</a:t>
          </a:r>
        </a:p>
      </dsp:txBody>
      <dsp:txXfrm>
        <a:off x="1275871" y="2179"/>
        <a:ext cx="4637565" cy="1104650"/>
      </dsp:txXfrm>
    </dsp:sp>
    <dsp:sp modelId="{81BDCD3D-D3E1-499A-8D05-8604B3BC31BB}">
      <dsp:nvSpPr>
        <dsp:cNvPr id="0" name=""/>
        <dsp:cNvSpPr/>
      </dsp:nvSpPr>
      <dsp:spPr>
        <a:xfrm>
          <a:off x="0" y="1382992"/>
          <a:ext cx="5913437" cy="110465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88C9232-A8A7-4284-9BBD-A76BF766E565}">
      <dsp:nvSpPr>
        <dsp:cNvPr id="0" name=""/>
        <dsp:cNvSpPr/>
      </dsp:nvSpPr>
      <dsp:spPr>
        <a:xfrm>
          <a:off x="334156" y="1631539"/>
          <a:ext cx="607557" cy="60755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473C996-E032-4CEF-94C6-9F537443FD46}">
      <dsp:nvSpPr>
        <dsp:cNvPr id="0" name=""/>
        <dsp:cNvSpPr/>
      </dsp:nvSpPr>
      <dsp:spPr>
        <a:xfrm>
          <a:off x="1275871" y="1382992"/>
          <a:ext cx="4637565" cy="11046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6909" tIns="116909" rIns="116909" bIns="116909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No real-time productivity data</a:t>
          </a:r>
        </a:p>
      </dsp:txBody>
      <dsp:txXfrm>
        <a:off x="1275871" y="1382992"/>
        <a:ext cx="4637565" cy="1104650"/>
      </dsp:txXfrm>
    </dsp:sp>
    <dsp:sp modelId="{F323CC2F-3DAD-4A27-A07A-BC2D73E876F2}">
      <dsp:nvSpPr>
        <dsp:cNvPr id="0" name=""/>
        <dsp:cNvSpPr/>
      </dsp:nvSpPr>
      <dsp:spPr>
        <a:xfrm>
          <a:off x="0" y="2763806"/>
          <a:ext cx="5913437" cy="110465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53C34A6-4365-4D3D-959D-693AB523E154}">
      <dsp:nvSpPr>
        <dsp:cNvPr id="0" name=""/>
        <dsp:cNvSpPr/>
      </dsp:nvSpPr>
      <dsp:spPr>
        <a:xfrm>
          <a:off x="334156" y="3012352"/>
          <a:ext cx="607557" cy="60755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CCD7D1-7916-4AFE-9A88-46CF8F577DE4}">
      <dsp:nvSpPr>
        <dsp:cNvPr id="0" name=""/>
        <dsp:cNvSpPr/>
      </dsp:nvSpPr>
      <dsp:spPr>
        <a:xfrm>
          <a:off x="1275871" y="2763806"/>
          <a:ext cx="4637565" cy="11046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6909" tIns="116909" rIns="116909" bIns="116909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Customer wait times go unnoticed</a:t>
          </a:r>
        </a:p>
      </dsp:txBody>
      <dsp:txXfrm>
        <a:off x="1275871" y="2763806"/>
        <a:ext cx="4637565" cy="1104650"/>
      </dsp:txXfrm>
    </dsp:sp>
    <dsp:sp modelId="{D08EA394-0C58-451A-AB1A-191DBEFDBFAE}">
      <dsp:nvSpPr>
        <dsp:cNvPr id="0" name=""/>
        <dsp:cNvSpPr/>
      </dsp:nvSpPr>
      <dsp:spPr>
        <a:xfrm>
          <a:off x="0" y="4144619"/>
          <a:ext cx="5913437" cy="110465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95B9671-DBC1-491A-AA45-879CC0BA7D17}">
      <dsp:nvSpPr>
        <dsp:cNvPr id="0" name=""/>
        <dsp:cNvSpPr/>
      </dsp:nvSpPr>
      <dsp:spPr>
        <a:xfrm>
          <a:off x="334156" y="4393166"/>
          <a:ext cx="607557" cy="60755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579C84B-9EF2-44EE-9D9C-B849E0CE28D6}">
      <dsp:nvSpPr>
        <dsp:cNvPr id="0" name=""/>
        <dsp:cNvSpPr/>
      </dsp:nvSpPr>
      <dsp:spPr>
        <a:xfrm>
          <a:off x="1275871" y="4144619"/>
          <a:ext cx="4637565" cy="11046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6909" tIns="116909" rIns="116909" bIns="116909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📍Goal → Use vision AI to measure workflow efficiency</a:t>
          </a:r>
        </a:p>
      </dsp:txBody>
      <dsp:txXfrm>
        <a:off x="1275871" y="4144619"/>
        <a:ext cx="4637565" cy="110465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B33210-0431-4364-8DBA-3F335301EC78}" type="datetimeFigureOut">
              <a:rPr lang="en-IN" smtClean="0"/>
              <a:t>17-10-2025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0FEEC0-C96E-4A10-BD68-03AB713BA5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16382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0FEEC0-C96E-4A10-BD68-03AB713BA537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55415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10/17/2025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57852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10/17/2025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47456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10/17/2025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37222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10/17/2025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45607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10/17/2025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63429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10/17/2025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13562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10/17/2025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77171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10/17/2025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80718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92C5EAEF-6478-4102-8F5D-A5FE9FC97ACB}" type="datetime1">
              <a:rPr lang="en-US" smtClean="0"/>
              <a:t>10/17/2025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01066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10/17/2025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01545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10/17/2025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02437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F45AC6-C491-4585-A584-9CE2AF7D5500}" type="datetime1">
              <a:rPr lang="en-US" smtClean="0"/>
              <a:t>10/17/2025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59131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3" name="Rectangle 52">
            <a:extLst>
              <a:ext uri="{FF2B5EF4-FFF2-40B4-BE49-F238E27FC236}">
                <a16:creationId xmlns:a16="http://schemas.microsoft.com/office/drawing/2014/main" id="{65513E21-21B0-48DB-8CF1-35E43B33A4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blue abstract watercolor pattern on a white background">
            <a:extLst>
              <a:ext uri="{FF2B5EF4-FFF2-40B4-BE49-F238E27FC236}">
                <a16:creationId xmlns:a16="http://schemas.microsoft.com/office/drawing/2014/main" id="{7DA66989-11ED-5CD3-82A8-65CC31873EA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t="15071" r="-1" b="656"/>
          <a:stretch>
            <a:fillRect/>
          </a:stretch>
        </p:blipFill>
        <p:spPr>
          <a:xfrm>
            <a:off x="20" y="10"/>
            <a:ext cx="12191675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6F761CB-3DCF-7AF6-B6C1-BC971807F3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76636" y="992221"/>
            <a:ext cx="6247308" cy="487355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400" dirty="0"/>
              <a:t>CaféVision ☕</a:t>
            </a:r>
            <a:br>
              <a:rPr lang="en-US" sz="4100" dirty="0"/>
            </a:br>
            <a:br>
              <a:rPr lang="en-US" sz="4100" dirty="0"/>
            </a:br>
            <a:r>
              <a:rPr lang="en-US" sz="3600" dirty="0"/>
              <a:t>AI-Powered Productivity Tracker</a:t>
            </a:r>
            <a:br>
              <a:rPr lang="en-US" sz="3600" dirty="0"/>
            </a:br>
            <a:r>
              <a:rPr lang="en-US" sz="3600" dirty="0"/>
              <a:t>“Built using Plainsight OpenFilter Framework”</a:t>
            </a:r>
            <a:br>
              <a:rPr lang="en-US" sz="4100" dirty="0"/>
            </a:br>
            <a:endParaRPr lang="en-US" sz="41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186FE9-963A-CFB2-C914-4C7C90552E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2568" y="996610"/>
            <a:ext cx="3909390" cy="486478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228600" algn="r">
              <a:buFont typeface="Arial" panose="020B0604020202020204" pitchFamily="34" charset="0"/>
              <a:buChar char="•"/>
            </a:pPr>
            <a:r>
              <a:rPr lang="en-US" sz="2000" b="1" dirty="0"/>
              <a:t>👤 Agnel Salve | Northeastern University</a:t>
            </a:r>
          </a:p>
          <a:p>
            <a:pPr indent="-228600" algn="r">
              <a:buFont typeface="Arial" panose="020B0604020202020204" pitchFamily="34" charset="0"/>
              <a:buChar char="•"/>
            </a:pPr>
            <a:r>
              <a:rPr lang="en-US" sz="2000" b="1" dirty="0"/>
              <a:t>👤Chinmay Sakhare | Northeastern University</a:t>
            </a:r>
          </a:p>
          <a:p>
            <a:pPr indent="-228600" algn="r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indent="-228600" algn="r"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580B8A35-DEA7-4D43-9DF8-90B4681D0F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600200"/>
            <a:ext cx="0" cy="3657600"/>
          </a:xfrm>
          <a:prstGeom prst="line">
            <a:avLst/>
          </a:prstGeom>
          <a:ln w="31750">
            <a:solidFill>
              <a:schemeClr val="tx1">
                <a:alpha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51019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1A86B93D-0879-4BC3-B616-90E5044828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20E885D-F4D2-48FD-95D9-DA0751F3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838524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80B6F07-A923-EDAD-B15F-1840270E8C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5992" y="2307409"/>
            <a:ext cx="3157577" cy="374731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R="0" lvl="0" fontAlgn="base">
              <a:spcAft>
                <a:spcPct val="0"/>
              </a:spcAft>
              <a:buClrTx/>
              <a:buSzTx/>
              <a:tabLst/>
              <a:defRPr/>
            </a:pPr>
            <a:r>
              <a:rPr lang="en-US"/>
              <a:t>Problem?</a:t>
            </a:r>
            <a:br>
              <a:rPr lang="en-US"/>
            </a:br>
            <a:br>
              <a:rPr lang="en-US"/>
            </a:br>
            <a:br>
              <a:rPr kumimoji="0" lang="en-US" altLang="en-US" u="none" strike="noStrike" spc="0" normalizeH="0" baseline="0" noProof="0">
                <a:ln>
                  <a:noFill/>
                </a:ln>
                <a:uLnTx/>
                <a:uFillTx/>
              </a:rPr>
            </a:br>
            <a:br>
              <a:rPr lang="en-US"/>
            </a:br>
            <a:endParaRPr lang="en-US"/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39EC1CB8-4497-451C-9F6C-6BC9B65056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555992" y="2146542"/>
            <a:ext cx="3157578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40" name="Title 1">
            <a:extLst>
              <a:ext uri="{FF2B5EF4-FFF2-40B4-BE49-F238E27FC236}">
                <a16:creationId xmlns:a16="http://schemas.microsoft.com/office/drawing/2014/main" id="{A599AF7C-8D7E-4D1B-AB28-587084B3DE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51580" y="3122496"/>
            <a:ext cx="3530157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graphicFrame>
        <p:nvGraphicFramePr>
          <p:cNvPr id="30" name="TextBox 4">
            <a:extLst>
              <a:ext uri="{FF2B5EF4-FFF2-40B4-BE49-F238E27FC236}">
                <a16:creationId xmlns:a16="http://schemas.microsoft.com/office/drawing/2014/main" id="{09BA7184-2164-D0D4-30CC-80EE84FE383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40439699"/>
              </p:ext>
            </p:extLst>
          </p:nvPr>
        </p:nvGraphicFramePr>
        <p:xfrm>
          <a:off x="1136347" y="803275"/>
          <a:ext cx="5913437" cy="52514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5160208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0CABCAE3-64FC-4149-819F-2C18128241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012FDCFE-9AD2-4D8A-8CBF-B3AA37EBF6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BD463FC-4CA8-4FF4-85A3-AF9F4B98D2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BECF35C3-8B44-4F4B-BD25-4C01823DB2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8BC298DB-2D5C-40A1-9A78-6B4A12198A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5C2355B-7CE9-4192-9142-A41CA0A0C0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AA5215B-1956-BE60-7781-EC69713399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9647" y="1977271"/>
            <a:ext cx="4311401" cy="1055679"/>
          </a:xfrm>
        </p:spPr>
        <p:txBody>
          <a:bodyPr vert="horz" lIns="91440" tIns="45720" rIns="91440" bIns="0" rtlCol="0" anchor="b">
            <a:normAutofit fontScale="90000"/>
          </a:bodyPr>
          <a:lstStyle/>
          <a:p>
            <a:r>
              <a:rPr lang="en-US" sz="4100" dirty="0"/>
              <a:t>Solution Architecture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FA1E797-DE63-82DA-C85D-C819765BDFA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158344" y="3529158"/>
            <a:ext cx="5902037" cy="210271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91440" rIns="91440" bIns="91440" numCol="1" rtlCol="0" anchorCtr="0" compatLnSpc="1">
            <a:prstTxWarp prst="textNoShape">
              <a:avLst/>
            </a:prstTxWarp>
            <a:normAutofit/>
          </a:bodyPr>
          <a:lstStyle/>
          <a:p>
            <a:pPr marL="171450" marR="0" lvl="0" indent="-171450" fontAlgn="base">
              <a:lnSpc>
                <a:spcPct val="110000"/>
              </a:lnSpc>
              <a:spcAft>
                <a:spcPct val="0"/>
              </a:spcAft>
              <a:buFont typeface="Arial" panose="020B0604020202020204" pitchFamily="34" charset="0"/>
              <a:buChar char="•"/>
              <a:tabLst/>
            </a:pPr>
            <a:r>
              <a:rPr kumimoji="0" lang="en-US" altLang="en-US" sz="1600" i="0" u="none" strike="noStrike" cap="all" normalizeH="0" dirty="0">
                <a:ln>
                  <a:noFill/>
                </a:ln>
              </a:rPr>
              <a:t>Camera Feed → YOLOv8 → Zone Logic → Overlay → Reporter</a:t>
            </a:r>
          </a:p>
          <a:p>
            <a:pPr marL="171450" marR="0" lvl="0" indent="-171450" fontAlgn="base">
              <a:lnSpc>
                <a:spcPct val="110000"/>
              </a:lnSpc>
              <a:spcAft>
                <a:spcPct val="0"/>
              </a:spcAft>
              <a:buFont typeface="Arial" panose="020B0604020202020204" pitchFamily="34" charset="0"/>
              <a:buChar char="•"/>
              <a:tabLst/>
            </a:pPr>
            <a:r>
              <a:rPr kumimoji="0" lang="en-US" altLang="en-US" sz="1600" i="0" u="none" strike="noStrike" cap="all" normalizeH="0" dirty="0">
                <a:ln>
                  <a:noFill/>
                </a:ln>
              </a:rPr>
              <a:t>Each module = OpenFilter Filter Node</a:t>
            </a:r>
          </a:p>
          <a:p>
            <a:pPr marL="171450" marR="0" lvl="0" indent="-171450" fontAlgn="base">
              <a:lnSpc>
                <a:spcPct val="110000"/>
              </a:lnSpc>
              <a:spcAft>
                <a:spcPct val="0"/>
              </a:spcAft>
              <a:buFont typeface="Arial" panose="020B0604020202020204" pitchFamily="34" charset="0"/>
              <a:buChar char="•"/>
              <a:tabLst/>
            </a:pPr>
            <a:r>
              <a:rPr kumimoji="0" lang="en-US" altLang="en-US" sz="1600" i="0" u="none" strike="noStrike" cap="all" normalizeH="0" dirty="0">
                <a:ln>
                  <a:noFill/>
                </a:ln>
              </a:rPr>
              <a:t>Modular, composable pipeline</a:t>
            </a:r>
            <a:br>
              <a:rPr kumimoji="0" lang="en-US" altLang="en-US" sz="1600" i="0" u="none" strike="noStrike" cap="all" normalizeH="0" dirty="0">
                <a:ln>
                  <a:noFill/>
                </a:ln>
              </a:rPr>
            </a:br>
            <a:r>
              <a:rPr kumimoji="0" lang="en-US" altLang="en-US" sz="1600" i="0" u="none" strike="noStrike" cap="all" normalizeH="0" dirty="0">
                <a:ln>
                  <a:noFill/>
                </a:ln>
              </a:rPr>
              <a:t>🧩 Built with OpenFilter + </a:t>
            </a:r>
            <a:r>
              <a:rPr kumimoji="0" lang="en-US" altLang="en-US" sz="1600" i="0" u="none" strike="noStrike" cap="all" normalizeH="0" dirty="0" err="1">
                <a:ln>
                  <a:noFill/>
                </a:ln>
              </a:rPr>
              <a:t>Ultralytics</a:t>
            </a:r>
            <a:r>
              <a:rPr kumimoji="0" lang="en-US" altLang="en-US" sz="1600" i="0" u="none" strike="noStrike" cap="all" normalizeH="0" dirty="0">
                <a:ln>
                  <a:noFill/>
                </a:ln>
              </a:rPr>
              <a:t> + OpenCV + Python</a:t>
            </a:r>
          </a:p>
        </p:txBody>
      </p:sp>
      <p:pic>
        <p:nvPicPr>
          <p:cNvPr id="6" name="Picture 5" descr="White 3D art">
            <a:extLst>
              <a:ext uri="{FF2B5EF4-FFF2-40B4-BE49-F238E27FC236}">
                <a16:creationId xmlns:a16="http://schemas.microsoft.com/office/drawing/2014/main" id="{879BA474-A91D-E171-5780-68CC274900D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325" r="-1" b="9403"/>
          <a:stretch>
            <a:fillRect/>
          </a:stretch>
        </p:blipFill>
        <p:spPr>
          <a:xfrm>
            <a:off x="1130029" y="1740815"/>
            <a:ext cx="4960442" cy="2790298"/>
          </a:xfrm>
          <a:prstGeom prst="rect">
            <a:avLst/>
          </a:prstGeom>
        </p:spPr>
      </p:pic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06D05ED8-39E4-42F8-92CB-704C2BD0D2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579647" y="3526496"/>
            <a:ext cx="414993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39" name="Picture 38">
            <a:extLst>
              <a:ext uri="{FF2B5EF4-FFF2-40B4-BE49-F238E27FC236}">
                <a16:creationId xmlns:a16="http://schemas.microsoft.com/office/drawing/2014/main" id="{45CE2E7C-6AA3-4710-825D-4CDDF788C7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3256C6C3-0EDC-4651-AB37-9F26CFAA6C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88870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0CABCAE3-64FC-4149-819F-2C18128241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012FDCFE-9AD2-4D8A-8CBF-B3AA37EBF6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FBD463FC-4CA8-4FF4-85A3-AF9F4B98D2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BECF35C3-8B44-4F4B-BD25-4C01823DB2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8BC298DB-2D5C-40A1-9A78-6B4A12198A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5C2355B-7CE9-4192-9142-A41CA0A0C0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EC1D22C-3159-CFF1-0DD5-511BF0F273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5200" y="967167"/>
            <a:ext cx="4151306" cy="2374516"/>
          </a:xfrm>
        </p:spPr>
        <p:txBody>
          <a:bodyPr vert="horz" lIns="91440" tIns="45720" rIns="91440" bIns="0" rtlCol="0" anchor="b">
            <a:normAutofit/>
          </a:bodyPr>
          <a:lstStyle/>
          <a:p>
            <a:r>
              <a:rPr lang="en-US" sz="4800" dirty="0"/>
              <a:t>Demo Output</a:t>
            </a:r>
            <a:br>
              <a:rPr lang="en-US" sz="4800" dirty="0"/>
            </a:br>
            <a:endParaRPr lang="en-US" sz="48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06F374-78E0-70E8-313D-0EFF8DB60A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79647" y="3529158"/>
            <a:ext cx="5439171" cy="2016809"/>
          </a:xfrm>
        </p:spPr>
        <p:txBody>
          <a:bodyPr vert="horz" lIns="91440" tIns="91440" rIns="91440" bIns="91440" rtlCol="0"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1600" cap="all" dirty="0"/>
              <a:t>Show screenshot or short video (bounding boxes + overlays)</a:t>
            </a:r>
          </a:p>
          <a:p>
            <a:pPr>
              <a:lnSpc>
                <a:spcPct val="110000"/>
              </a:lnSpc>
            </a:pPr>
            <a:r>
              <a:rPr lang="en-US" sz="1600" cap="all" dirty="0"/>
              <a:t>“Tracks customers and employees, calculates time per order and occupancy rate in real-time.”</a:t>
            </a:r>
          </a:p>
          <a:p>
            <a:pPr>
              <a:lnSpc>
                <a:spcPct val="110000"/>
              </a:lnSpc>
            </a:pPr>
            <a:r>
              <a:rPr lang="en-US" sz="1600" i="1" cap="all" dirty="0"/>
              <a:t>Visual proof → data driven operations.</a:t>
            </a:r>
            <a:endParaRPr lang="en-US" sz="1600" cap="all" dirty="0"/>
          </a:p>
          <a:p>
            <a:pPr>
              <a:lnSpc>
                <a:spcPct val="110000"/>
              </a:lnSpc>
            </a:pPr>
            <a:endParaRPr lang="en-US" sz="1200" cap="all" dirty="0"/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06D05ED8-39E4-42F8-92CB-704C2BD0D2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579647" y="3526496"/>
            <a:ext cx="414993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45" name="Picture 44">
            <a:extLst>
              <a:ext uri="{FF2B5EF4-FFF2-40B4-BE49-F238E27FC236}">
                <a16:creationId xmlns:a16="http://schemas.microsoft.com/office/drawing/2014/main" id="{45CE2E7C-6AA3-4710-825D-4CDDF788C7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3256C6C3-0EDC-4651-AB37-9F26CFAA6C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 group of people in a cafe&#10;&#10;AI-generated content may be incorrect.">
            <a:extLst>
              <a:ext uri="{FF2B5EF4-FFF2-40B4-BE49-F238E27FC236}">
                <a16:creationId xmlns:a16="http://schemas.microsoft.com/office/drawing/2014/main" id="{581FCC22-7990-0268-6B2F-665BF67D44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077" y="306792"/>
            <a:ext cx="4149932" cy="2695596"/>
          </a:xfrm>
          <a:prstGeom prst="rect">
            <a:avLst/>
          </a:prstGeom>
        </p:spPr>
      </p:pic>
      <p:pic>
        <p:nvPicPr>
          <p:cNvPr id="8" name="Picture 7" descr="A group of men taking a selfie&#10;&#10;AI-generated content may be incorrect.">
            <a:extLst>
              <a:ext uri="{FF2B5EF4-FFF2-40B4-BE49-F238E27FC236}">
                <a16:creationId xmlns:a16="http://schemas.microsoft.com/office/drawing/2014/main" id="{6B95E9D2-1E16-64F3-45A9-DF3612D9533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077" y="3090869"/>
            <a:ext cx="4144379" cy="2896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12592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CABCAE3-64FC-4149-819F-2C18128241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12FDCFE-9AD2-4D8A-8CBF-B3AA37EBF6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BD463FC-4CA8-4FF4-85A3-AF9F4B98D2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ECF35C3-8B44-4F4B-BD25-4C01823DB2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FB376A39-154E-4672-B6EA-EA77F28CF1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7F330F7-B3EC-45B3-A3B9-8B43F6EE2C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FAA8CF5-5D9C-764D-31E4-643F136E1F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3458" y="964769"/>
            <a:ext cx="5525305" cy="2376915"/>
          </a:xfrm>
        </p:spPr>
        <p:txBody>
          <a:bodyPr vert="horz" lIns="91440" tIns="45720" rIns="91440" bIns="0" rtlCol="0" anchor="b">
            <a:normAutofit/>
          </a:bodyPr>
          <a:lstStyle/>
          <a:p>
            <a:r>
              <a:rPr lang="en-US" sz="5400" dirty="0"/>
              <a:t>Impact &amp; Next Steps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2B28952-3078-5AE9-D363-79F66E9587F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193458" y="3529158"/>
            <a:ext cx="6776869" cy="228973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91440" rIns="91440" bIns="91440" numCol="1" rtlCol="0" anchorCtr="0" compatLnSpc="1">
            <a:prstTxWarp prst="textNoShape">
              <a:avLst/>
            </a:prstTxWarp>
            <a:normAutofit/>
          </a:bodyPr>
          <a:lstStyle/>
          <a:p>
            <a:pPr marL="285750" marR="0" lvl="0" indent="-285750" fontAlgn="base">
              <a:lnSpc>
                <a:spcPct val="110000"/>
              </a:lnSpc>
              <a:spcAft>
                <a:spcPct val="0"/>
              </a:spcAft>
              <a:buFont typeface="Arial" panose="020B0604020202020204" pitchFamily="34" charset="0"/>
              <a:buChar char="•"/>
              <a:tabLst/>
            </a:pPr>
            <a:r>
              <a:rPr kumimoji="0" lang="en-US" altLang="en-US" i="0" u="none" strike="noStrike" cap="all" normalizeH="0" dirty="0">
                <a:ln>
                  <a:noFill/>
                </a:ln>
              </a:rPr>
              <a:t>Reduce idle time &amp; improve service speed</a:t>
            </a:r>
          </a:p>
          <a:p>
            <a:pPr marL="285750" marR="0" lvl="0" indent="-285750" fontAlgn="base">
              <a:lnSpc>
                <a:spcPct val="110000"/>
              </a:lnSpc>
              <a:spcAft>
                <a:spcPct val="0"/>
              </a:spcAft>
              <a:buFont typeface="Arial" panose="020B0604020202020204" pitchFamily="34" charset="0"/>
              <a:buChar char="•"/>
              <a:tabLst/>
            </a:pPr>
            <a:r>
              <a:rPr kumimoji="0" lang="en-US" altLang="en-US" i="0" u="none" strike="noStrike" cap="all" normalizeH="0" dirty="0">
                <a:ln>
                  <a:noFill/>
                </a:ln>
              </a:rPr>
              <a:t>Scalable to other domains (retail, factories, events)</a:t>
            </a:r>
          </a:p>
          <a:p>
            <a:pPr marL="285750" marR="0" lvl="0" indent="-285750" fontAlgn="base">
              <a:lnSpc>
                <a:spcPct val="110000"/>
              </a:lnSpc>
              <a:spcAft>
                <a:spcPct val="0"/>
              </a:spcAft>
              <a:buFont typeface="Arial" panose="020B0604020202020204" pitchFamily="34" charset="0"/>
              <a:buChar char="•"/>
              <a:tabLst/>
            </a:pPr>
            <a:r>
              <a:rPr kumimoji="0" lang="en-US" altLang="en-US" i="0" u="none" strike="noStrike" cap="all" normalizeH="0" dirty="0">
                <a:ln>
                  <a:noFill/>
                </a:ln>
              </a:rPr>
              <a:t>Future → add emotion detection + dashboard analytics</a:t>
            </a:r>
            <a:br>
              <a:rPr kumimoji="0" lang="en-US" altLang="en-US" i="0" u="none" strike="noStrike" cap="all" normalizeH="0" dirty="0">
                <a:ln>
                  <a:noFill/>
                </a:ln>
              </a:rPr>
            </a:br>
            <a:r>
              <a:rPr kumimoji="0" lang="en-US" altLang="en-US" i="0" u="none" strike="noStrike" cap="all" normalizeH="0" dirty="0">
                <a:ln>
                  <a:noFill/>
                </a:ln>
              </a:rPr>
              <a:t>✨ “Built in 4 hours using OpenFilter’s enterprise-grade vision framework.”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1B59C93E-408B-4A18-8823-245025D182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32239" y="482171"/>
            <a:ext cx="4074533" cy="5149101"/>
            <a:chOff x="632239" y="482171"/>
            <a:chExt cx="4074533" cy="5149101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BD194DF9-E912-48FF-90D3-E9D8E64545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239" y="482171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299F5B9F-C71E-4714-9F21-74DCC4D343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45298" y="812507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7" name="Rectangle 26">
            <a:extLst>
              <a:ext uri="{FF2B5EF4-FFF2-40B4-BE49-F238E27FC236}">
                <a16:creationId xmlns:a16="http://schemas.microsoft.com/office/drawing/2014/main" id="{B16E59B7-2693-428B-87AD-D8A76E7252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8720" y="977099"/>
            <a:ext cx="3116213" cy="4136205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Graphic 7" descr="Workflow">
            <a:extLst>
              <a:ext uri="{FF2B5EF4-FFF2-40B4-BE49-F238E27FC236}">
                <a16:creationId xmlns:a16="http://schemas.microsoft.com/office/drawing/2014/main" id="{FD00C197-DE4C-0FBB-5A66-7A9F808303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71223" y="1649879"/>
            <a:ext cx="2799103" cy="2799103"/>
          </a:xfrm>
          <a:prstGeom prst="rect">
            <a:avLst/>
          </a:prstGeom>
        </p:spPr>
      </p:pic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D89CA9A2-D0CB-48A6-B2ED-03C3EB3AD6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193459" y="3526496"/>
            <a:ext cx="5536119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31" name="Picture 30">
            <a:extLst>
              <a:ext uri="{FF2B5EF4-FFF2-40B4-BE49-F238E27FC236}">
                <a16:creationId xmlns:a16="http://schemas.microsoft.com/office/drawing/2014/main" id="{8E11A2E1-5E39-4080-93B8-4811FE13D4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5A8467B7-9FAF-47EC-A36A-76A9020A51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1232587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TM10001114[[fn=Gallery]]</Template>
  <TotalTime>47</TotalTime>
  <Words>174</Words>
  <Application>Microsoft Office PowerPoint</Application>
  <PresentationFormat>Widescreen</PresentationFormat>
  <Paragraphs>21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Arial</vt:lpstr>
      <vt:lpstr>Gill Sans MT</vt:lpstr>
      <vt:lpstr>Gallery</vt:lpstr>
      <vt:lpstr>CaféVision ☕  AI-Powered Productivity Tracker “Built using Plainsight OpenFilter Framework” </vt:lpstr>
      <vt:lpstr>Problem?    </vt:lpstr>
      <vt:lpstr>Solution Architecture</vt:lpstr>
      <vt:lpstr>Demo Output </vt:lpstr>
      <vt:lpstr>Impact &amp; Next Steps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Chinmay Sakhare</dc:creator>
  <cp:lastModifiedBy>Chinmay Sakhare</cp:lastModifiedBy>
  <cp:revision>1</cp:revision>
  <dcterms:created xsi:type="dcterms:W3CDTF">2025-10-17T16:17:26Z</dcterms:created>
  <dcterms:modified xsi:type="dcterms:W3CDTF">2025-10-17T17:05:20Z</dcterms:modified>
</cp:coreProperties>
</file>